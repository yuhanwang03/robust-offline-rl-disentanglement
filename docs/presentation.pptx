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image" Target="../media/image22.png"/><Relationship Id="rId10" Type="http://schemas.openxmlformats.org/officeDocument/2006/relationships/image" Target="../media/image23.png"/><Relationship Id="rId11" Type="http://schemas.openxmlformats.org/officeDocument/2006/relationships/image" Target="../media/image24.png"/><Relationship Id="rId12" Type="http://schemas.openxmlformats.org/officeDocument/2006/relationships/image" Target="../media/image2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9B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2743200"/>
            <a:ext cx="1202436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Robust Offline RL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0F9BCF"/>
                </a:solidFill>
              </a:rPr>
              <a:t>via Disentangled Privileged Pretraining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175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CCCCC"/>
                </a:solidFill>
              </a:rPr>
              <a:t>Representation robustness under synthetic observation corruption
Privileged Pretraining Framework (PPF) + disentanglement regularizers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035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Course Final Presentation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9B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F4FD"/>
                </a:solidFill>
              </a:rPr>
              <a:t>Why does robustness matter in offline RL?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5303520" cy="5212080"/>
          </a:xfrm>
          <a:prstGeom prst="rect">
            <a:avLst/>
          </a:prstGeom>
          <a:solidFill>
            <a:srgbClr val="0D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5A623"/>
                </a:solidFill>
              </a:rPr>
              <a:t>The Problem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Real-world sensors are noisy or unreliable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Offline datasets are collected under ideal conditions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At deployment, observations can be corrupted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Standard offline RL policies degrade sharply under noise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1234440"/>
            <a:ext cx="5760720" cy="5212080"/>
          </a:xfrm>
          <a:prstGeom prst="rect">
            <a:avLst/>
          </a:prstGeom>
          <a:solidFill>
            <a:srgbClr val="0D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417320"/>
            <a:ext cx="5394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5A623"/>
                </a:solidFill>
              </a:rPr>
              <a:t>The Challenge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Cannot collect more data online to adapt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Encoder must separate task-relevant from noise features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Three corruption families studied:
   concat  |  project  |  nonlinear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56692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5A623"/>
                </a:solidFill>
              </a:rPr>
              <a:t>Goal: learn a robust state encoder from offline data that transfers to corrupted observations at test time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9B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Problem Setup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3291840" cy="2926080"/>
          </a:xfrm>
          <a:prstGeom prst="rect">
            <a:avLst/>
          </a:prstGeom>
          <a:solidFill>
            <a:srgbClr val="0F6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A623"/>
                </a:solidFill>
              </a:rPr>
              <a:t>concat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65960"/>
            <a:ext cx="3017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Append nuisance noise
directly to clean obs
→ dimension increases
→ easy to detect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3977640" y="1371600"/>
            <a:ext cx="3291840" cy="2926080"/>
          </a:xfrm>
          <a:prstGeom prst="rect">
            <a:avLst/>
          </a:prstGeom>
          <a:solidFill>
            <a:srgbClr val="095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0" y="14630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A623"/>
                </a:solidFill>
              </a:rPr>
              <a:t>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965960"/>
            <a:ext cx="3017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Random orthogonal linear
mixing after concatenation
→ features entangled
→ moderate difficulty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9520" y="1371600"/>
            <a:ext cx="3291840" cy="2926080"/>
          </a:xfrm>
          <a:prstGeom prst="rect">
            <a:avLst/>
          </a:prstGeom>
          <a:solidFill>
            <a:srgbClr val="063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26680" y="14630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A623"/>
                </a:solidFill>
              </a:rPr>
              <a:t>nonlinear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80" y="1965960"/>
            <a:ext cx="3017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Two-layer nonlinear
mixing after concatenation
→ highly entangled
→ hardest setting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572000"/>
            <a:ext cx="11430000" cy="1645920"/>
          </a:xfrm>
          <a:prstGeom prst="rect">
            <a:avLst/>
          </a:prstGeom>
          <a:solidFill>
            <a:srgbClr val="0D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663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A623"/>
                </a:solidFill>
              </a:rPr>
              <a:t>Environments (D4RL medium-v2)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074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halfcheetah-medium-v2   |   hopper-medium-v2   |   walker2d-medium-v2   |   ant-medium-v2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577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CCCC"/>
                </a:solidFill>
              </a:rPr>
              <a:t>Policy: IQL (main)   +   TD3+BC / BC (ablation 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9B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Privileged Pretraining Framework (PPF)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F4FD"/>
                </a:solidFill>
              </a:rPr>
              <a:t>Encoder trained with clean-state supervision; frozen at inference on noisy observations only</a:t>
            </a:r>
          </a:p>
        </p:txBody>
      </p:sp>
      <p:pic>
        <p:nvPicPr>
          <p:cNvPr id="5" name="Picture 4" descr="ppf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88720"/>
            <a:ext cx="11750040" cy="513090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28600" y="6263640"/>
            <a:ext cx="11750040" cy="502920"/>
          </a:xfrm>
          <a:prstGeom prst="rect">
            <a:avLst/>
          </a:prstGeom>
          <a:solidFill>
            <a:srgbClr val="08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30936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8F4FD"/>
                </a:solidFill>
              </a:rPr>
              <a:t>Regularizers:  Barlow Twins  |  Cov-Whitening  |  HSIC  |  Distance Corr  |  InfoNCE  |  L1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9B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Methods &amp; Baselines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80160"/>
            <a:ext cx="11430000" cy="347472"/>
          </a:xfrm>
          <a:prstGeom prst="rect">
            <a:avLst/>
          </a:prstGeom>
          <a:solidFill>
            <a:srgbClr val="0F9B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1673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Method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131673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1316736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Description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27631"/>
            <a:ext cx="11430000" cy="402336"/>
          </a:xfrm>
          <a:prstGeom prst="rect">
            <a:avLst/>
          </a:prstGeom>
          <a:solidFill>
            <a:srgbClr val="0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82495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true_only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1682495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Upper bound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1682495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Policy trained directly on clean states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048255"/>
            <a:ext cx="11430000" cy="402336"/>
          </a:xfrm>
          <a:prstGeom prst="rect">
            <a:avLst/>
          </a:prstGeom>
          <a:solidFill>
            <a:srgbClr val="6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103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raw_noisy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103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Lower bound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2103120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Policy trained on raw corrupted observations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468879"/>
            <a:ext cx="11430000" cy="402336"/>
          </a:xfrm>
          <a:prstGeom prst="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52374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plain (PPF)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252374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PPF no reg.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2523744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PPF encoder — dynamics + reward, no disentanglement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889504"/>
            <a:ext cx="11430000" cy="402336"/>
          </a:xfrm>
          <a:prstGeom prst="rect">
            <a:avLst/>
          </a:prstGeom>
          <a:solidFill>
            <a:srgbClr val="0D2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29443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disentangled_barlow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29443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PPF method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2944368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PPF + Barlow Twins cross-correlation penalty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310128"/>
            <a:ext cx="11430000" cy="402336"/>
          </a:xfrm>
          <a:prstGeom prst="rect">
            <a:avLst/>
          </a:prstGeom>
          <a:solidFill>
            <a:srgbClr val="0D2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36499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disentangled_cov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40" y="33649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PPF method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3364992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PPF + covariance whitening penalty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730752"/>
            <a:ext cx="11430000" cy="402336"/>
          </a:xfrm>
          <a:prstGeom prst="rect">
            <a:avLst/>
          </a:prstGeom>
          <a:solidFill>
            <a:srgbClr val="0D2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3785615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disentangled_hsic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40" y="3785615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PPF method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0" y="3785615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PPF + HSIC independence criterion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151376"/>
            <a:ext cx="11430000" cy="402336"/>
          </a:xfrm>
          <a:prstGeom prst="rect">
            <a:avLst/>
          </a:prstGeom>
          <a:solidFill>
            <a:srgbClr val="0D2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206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disentangled_dcor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91840" y="4206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PPF method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0" y="4206240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PPF + distance correlation penalty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572000"/>
            <a:ext cx="11430000" cy="402336"/>
          </a:xfrm>
          <a:prstGeom prst="rect">
            <a:avLst/>
          </a:prstGeom>
          <a:solidFill>
            <a:srgbClr val="0D2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462686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disentangled_infonce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91840" y="462686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PPF method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0" y="4626864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PPF + InfoNCE contrastive penalty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4992624"/>
            <a:ext cx="11430000" cy="402336"/>
          </a:xfrm>
          <a:prstGeom prst="rect">
            <a:avLst/>
          </a:prstGeom>
          <a:solidFill>
            <a:srgbClr val="0D2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504748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disentangled_l1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91840" y="50474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PPF method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20640" y="5047488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PPF + L1 cross-correlation penalty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5413248"/>
            <a:ext cx="11430000" cy="402336"/>
          </a:xfrm>
          <a:prstGeom prst="rect">
            <a:avLst/>
          </a:prstGeom>
          <a:solidFill>
            <a:srgbClr val="3A2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546811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PCA-IQL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91840" y="54681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External baseline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20640" y="5468112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PCA projection (no neural encoder, no privileged info)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9B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Results: Performance Degradation Curve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F4FD"/>
                </a:solidFill>
              </a:rPr>
              <a:t>hopper-medium-v2 · nonlinear noise · score vs. noise scale · IQL</a:t>
            </a:r>
          </a:p>
        </p:txBody>
      </p:sp>
      <p:pic>
        <p:nvPicPr>
          <p:cNvPr id="5" name="Picture 4" descr="cell09_out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34440"/>
            <a:ext cx="11612880" cy="41148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74320" y="5486400"/>
            <a:ext cx="11612880" cy="1005840"/>
          </a:xfrm>
          <a:prstGeom prst="rect">
            <a:avLst/>
          </a:prstGeom>
          <a:solidFill>
            <a:srgbClr val="0D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55321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dCor and Barlow show the flattest curves → most graceful degradation under increasing noise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plain PPF already outperforms raw_noisy; disentanglement regularizers provide an additional margin at high scale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PCA-IQL degrades sharply beyond scale 1.0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9B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Results: Full Score Heatmap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F4FD"/>
                </a:solidFill>
              </a:rPr>
              <a:t>hopper-medium-v2 · nonlinear · normalized score across all (dim, scale) configs</a:t>
            </a:r>
          </a:p>
        </p:txBody>
      </p:sp>
      <p:pic>
        <p:nvPicPr>
          <p:cNvPr id="5" name="Picture 4" descr="cell13_out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234440"/>
            <a:ext cx="11795760" cy="42062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82880" y="5577840"/>
            <a:ext cx="11795760" cy="914400"/>
          </a:xfrm>
          <a:prstGeom prst="rect">
            <a:avLst/>
          </a:prstGeom>
          <a:solidFill>
            <a:srgbClr val="0D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56235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Top-left cells (small dim/scale) are easy — all methods score well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Bottom-right corner (large dim &amp; scale) is the hardest regime — disentangled methods retain color while plain/raw_noisy fade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Heatmap reveals method-specific strengths: dCor / Barlow maintain brightness across the entire grid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9B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Method Selection: Composite Ranking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F4FD"/>
                </a:solidFill>
              </a:rPr>
              <a:t>hopper-medium-v2 · four metrics weighted: global mean 30%, hard-condition 35%, drop% 20%, win-rate 15%</a:t>
            </a:r>
          </a:p>
        </p:txBody>
      </p:sp>
      <p:pic>
        <p:nvPicPr>
          <p:cNvPr id="5" name="Picture 4" descr="cell16_out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6858000" cy="3291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457200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</a:rPr>
              <a:t>Composite score (higher = better overall)</a:t>
            </a:r>
          </a:p>
        </p:txBody>
      </p:sp>
      <p:pic>
        <p:nvPicPr>
          <p:cNvPr id="7" name="Picture 6" descr="cell17_out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280160"/>
            <a:ext cx="4572000" cy="3291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0" y="45720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</a:rPr>
              <a:t>Radar: top-4 methods vs plain — four evaluation axes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5029200"/>
            <a:ext cx="11521440" cy="1463040"/>
          </a:xfrm>
          <a:prstGeom prst="rect">
            <a:avLst/>
          </a:prstGeom>
          <a:solidFill>
            <a:srgbClr val="0D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5120640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dCor ranks #1 overall: leads on both global mean and hard-condition robustness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Barlow Twins #2: comparable hard-condition performance, slightly lower global mean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plain PPF #3 — disentanglement consistently provides a meaningful uplift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Verdict: dCor and Barlow are the recommended methods for high-noise regimes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9B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Results: Win Rate vs. Plain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F4FD"/>
                </a:solidFill>
              </a:rPr>
              <a:t>hopper-medium-v2 · nonlinear · fraction of (dim, scale) configs where method beats plain</a:t>
            </a:r>
          </a:p>
        </p:txBody>
      </p:sp>
      <p:pic>
        <p:nvPicPr>
          <p:cNvPr id="5" name="Picture 4" descr="cell11_out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11612880" cy="40233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74320" y="5486400"/>
            <a:ext cx="11612880" cy="1005840"/>
          </a:xfrm>
          <a:prstGeom prst="rect">
            <a:avLst/>
          </a:prstGeom>
          <a:solidFill>
            <a:srgbClr val="0D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55321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dCor wins in 71.5% of configurations with an average margin of +2.8 pts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Barlow wins in 69.4% — both methods reliably outperform the un-regularized PPF encoder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InfoNCE and L1 show lower win rates, suggesting sensitivity to specific noise regimes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9B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Ablation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F4FD"/>
                </a:solidFill>
              </a:rPr>
              <a:t>B1: remove privileged target   |   B2: reward-only pretraining</a:t>
            </a:r>
          </a:p>
        </p:txBody>
      </p:sp>
      <p:pic>
        <p:nvPicPr>
          <p:cNvPr id="5" name="Picture 4" descr="scale_sweep_nonlinear_dim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25880"/>
            <a:ext cx="5669280" cy="3200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452628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</a:rPr>
              <a:t>Full PPF vs no-privilege (B1) — halfcheetah nonlinear</a:t>
            </a:r>
          </a:p>
        </p:txBody>
      </p:sp>
      <p:pic>
        <p:nvPicPr>
          <p:cNvPr id="7" name="Picture 6" descr="scale_sweep_concat_dim_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325880"/>
            <a:ext cx="5486400" cy="3200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0" y="4526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</a:rPr>
              <a:t>Full PPF vs reward-only (B2) — halfcheetah nonlinear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5029200"/>
            <a:ext cx="11430000" cy="1508760"/>
          </a:xfrm>
          <a:prstGeom prst="rect">
            <a:avLst/>
          </a:prstGeom>
          <a:solidFill>
            <a:srgbClr val="0D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12064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B1 (no privileged supervision):  removing clean-state targets degrades all methods — confirms that privileged info is the key ingredient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B2 (reward only, halfcheetah nonlinear):  Plain (reward_only) is competitive with or better than all disentanglement variants — Barlow/HSIC/dCor regularizers do not provide clear gains; dCor (reward_only) consistently underperforms; noise scale dominates over noise dimension as the key degradation factor; high seed variance (±5–10 pts) indicates results need more seeds to be conclusive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9B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Noise Construction: Three Corruption Families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F4FD"/>
                </a:solidFill>
              </a:rPr>
              <a:t>How synthetic observation noise is injected into clean states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80160"/>
            <a:ext cx="3566160" cy="4480560"/>
          </a:xfrm>
          <a:prstGeom prst="rect">
            <a:avLst/>
          </a:prstGeom>
          <a:solidFill>
            <a:srgbClr val="0F6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A623"/>
                </a:solidFill>
              </a:rPr>
              <a:t>concat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9079" y="1280160"/>
            <a:ext cx="3566160" cy="4480560"/>
          </a:xfrm>
          <a:prstGeom prst="rect">
            <a:avLst/>
          </a:prstGeom>
          <a:solidFill>
            <a:srgbClr val="095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0" y="13716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A623"/>
                </a:solidFill>
              </a:rPr>
              <a:t>project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7818119" y="1280160"/>
            <a:ext cx="3566160" cy="4480560"/>
          </a:xfrm>
          <a:prstGeom prst="rect">
            <a:avLst/>
          </a:prstGeom>
          <a:solidFill>
            <a:srgbClr val="063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79" y="13716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A623"/>
                </a:solidFill>
              </a:rPr>
              <a:t>nonlinear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79" y="1874519"/>
            <a:ext cx="3337560" cy="551249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79" y="2514600"/>
            <a:ext cx="3337560" cy="55124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29768" y="3200400"/>
            <a:ext cx="33375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D"/>
                </a:solidFill>
              </a:rPr>
              <a:t>Clean state s is normalized;
Gaussian noise appended directly.
Total dim = obs_dim + noise_dim.
Corrupted dims are linearly
separable in principle.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0520" y="1874519"/>
            <a:ext cx="3337560" cy="551249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0520" y="2514600"/>
            <a:ext cx="3337560" cy="55124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178808" y="3200400"/>
            <a:ext cx="33375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D"/>
                </a:solidFill>
              </a:rPr>
              <a:t>Q is a fixed random orthogonal
matrix (QR decomp of Gaussian).
State and noise are linearly
mixed — requires linear algebra
to separate.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9559" y="1874519"/>
            <a:ext cx="3337560" cy="551249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09559" y="2514600"/>
            <a:ext cx="3337560" cy="55124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927847" y="3200400"/>
            <a:ext cx="33375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D"/>
                </a:solidFill>
              </a:rPr>
              <a:t>W₁, W₂ are fixed random
orthogonal matrices.
tanh introduces nonlinearity —
features are deeply entangled.
Hardest corruption to undo.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5897880"/>
            <a:ext cx="11521440" cy="640080"/>
          </a:xfrm>
          <a:prstGeom prst="rect">
            <a:avLst/>
          </a:prstGeom>
          <a:solidFill>
            <a:srgbClr val="0D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9618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</a:rPr>
              <a:t>noise_dim d ∈ {4, 8, 13, 17}   |   noise_scale σ ∈ {0.5, 1.0, 1.5, 2.0}   |   pure_obs = s_norm (first obs_dim dims) — used as privileged supervision target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9B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Disentanglement Regularizers: Mathematical Formulas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F4FD"/>
                </a:solidFill>
              </a:rPr>
              <a:t>All methods minimize independence between z_task and z_irrel via different criteria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61872"/>
            <a:ext cx="11521440" cy="658368"/>
          </a:xfrm>
          <a:prstGeom prst="rect">
            <a:avLst/>
          </a:prstGeom>
          <a:solidFill>
            <a:srgbClr val="08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98448"/>
            <a:ext cx="11064240" cy="52243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20040" y="2029968"/>
            <a:ext cx="3703320" cy="2084831"/>
          </a:xfrm>
          <a:prstGeom prst="rect">
            <a:avLst/>
          </a:prstGeom>
          <a:solidFill>
            <a:srgbClr val="0D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2084832"/>
            <a:ext cx="3520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Barlow Twins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" y="2414016"/>
            <a:ext cx="3566160" cy="452048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" y="2907792"/>
            <a:ext cx="3566160" cy="48218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29768" y="3474720"/>
            <a:ext cx="35204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CC"/>
                </a:solidFill>
              </a:rPr>
              <a:t>Drives entire cross-corr matrix -&gt; 0
(L2 penalty, sensitive to large off-diag)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33087" y="2029968"/>
            <a:ext cx="3703320" cy="2084831"/>
          </a:xfrm>
          <a:prstGeom prst="rect">
            <a:avLst/>
          </a:prstGeom>
          <a:solidFill>
            <a:srgbClr val="0D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42816" y="2084832"/>
            <a:ext cx="3520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Cov-Whitening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2414016"/>
            <a:ext cx="3566160" cy="452048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6240" y="2907792"/>
            <a:ext cx="3566160" cy="48218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242816" y="3474720"/>
            <a:ext cx="35204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CC"/>
                </a:solidFill>
              </a:rPr>
              <a:t>Same matrix form as Barlow;
differs in normalization + context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46136" y="2029968"/>
            <a:ext cx="3703320" cy="2084831"/>
          </a:xfrm>
          <a:prstGeom prst="rect">
            <a:avLst/>
          </a:prstGeom>
          <a:solidFill>
            <a:srgbClr val="0D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5863" y="2084832"/>
            <a:ext cx="3520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HSIC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19288" y="2414016"/>
            <a:ext cx="3566160" cy="452048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19288" y="2907792"/>
            <a:ext cx="3566160" cy="46711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055863" y="3474720"/>
            <a:ext cx="35204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CC"/>
                </a:solidFill>
              </a:rPr>
              <a:t>Kernel-based independence test;
K_c, L_c are double-centered kernels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4206240"/>
            <a:ext cx="3703320" cy="2084831"/>
          </a:xfrm>
          <a:prstGeom prst="rect">
            <a:avLst/>
          </a:prstGeom>
          <a:solidFill>
            <a:srgbClr val="0D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" y="4261103"/>
            <a:ext cx="3520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Distance Corr (dCor)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3192" y="4590288"/>
            <a:ext cx="3566160" cy="452048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3192" y="5084064"/>
            <a:ext cx="3566160" cy="467117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29768" y="5650992"/>
            <a:ext cx="35204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CC"/>
                </a:solidFill>
              </a:rPr>
              <a:t>Captures nonlinear dependence;
zero iff z_task is independent of z_irrel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33087" y="4206240"/>
            <a:ext cx="3703320" cy="2084831"/>
          </a:xfrm>
          <a:prstGeom prst="rect">
            <a:avLst/>
          </a:prstGeom>
          <a:solidFill>
            <a:srgbClr val="0D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42816" y="4261103"/>
            <a:ext cx="3520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InfoNCE Repulsion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06240" y="4590288"/>
            <a:ext cx="3566160" cy="452048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06240" y="5084064"/>
            <a:ext cx="3566160" cy="467117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242816" y="5650992"/>
            <a:ext cx="35204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CC"/>
                </a:solidFill>
              </a:rPr>
              <a:t>Pushes representations apart
via cosine-similarity repulsion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46136" y="4206240"/>
            <a:ext cx="3703320" cy="2084831"/>
          </a:xfrm>
          <a:prstGeom prst="rect">
            <a:avLst/>
          </a:prstGeom>
          <a:solidFill>
            <a:srgbClr val="0D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55863" y="4261103"/>
            <a:ext cx="3520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L1 Cross-Corr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9288" y="4590288"/>
            <a:ext cx="3566160" cy="452048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19288" y="5084064"/>
            <a:ext cx="3566160" cy="482185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055863" y="5650992"/>
            <a:ext cx="35204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CC"/>
                </a:solidFill>
              </a:rPr>
              <a:t>L1 penalty encourages sparse
correlations (more robust to outliers)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9B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Conclusion &amp; 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34440"/>
            <a:ext cx="11430000" cy="3017520"/>
          </a:xfrm>
          <a:prstGeom prst="rect">
            <a:avLst/>
          </a:prstGeom>
          <a:solidFill>
            <a:srgbClr val="0D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F5A623"/>
                </a:solidFill>
              </a:rPr>
              <a:t>Takeaways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PPF (Privileged Pretraining Framework) effectively protects offline RL policies from observation corruption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Disentanglement regularizers show mixed results: beneficial in full-PPF setting (hopper), but do not clearly outperform Plain in the reward-only ablation (halfcheetah nonlinear) — dCor in particular underperforms in the reward-only regime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Privileged supervision (B1) is essential; reward-only pretraining (B2) does not further degrade relative to Plain — dynamics loss may matter less than previously assumed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Results hold across 4 environments and 3 noise families (concat, project, nonlinear)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4480560"/>
            <a:ext cx="11430000" cy="2011680"/>
          </a:xfrm>
          <a:prstGeom prst="rect">
            <a:avLst/>
          </a:prstGeom>
          <a:solidFill>
            <a:srgbClr val="08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6177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5A623"/>
                </a:solidFill>
              </a:rPr>
              <a:t>Future Work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Relax the privileged-information assumption (e.g., self-supervised or contrastive pretraining only)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Extend to image-based / partial-observable environments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Combine with uncertainty-aware offline RL (EDAC, IQL-uncertainty) for distribution shift robustness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21792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F9BCF"/>
                </a:solidFill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